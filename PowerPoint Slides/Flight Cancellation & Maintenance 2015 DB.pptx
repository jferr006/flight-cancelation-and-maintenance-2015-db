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Raleway Medium" charset="1" panose="00000000000000000000"/>
      <p:regular r:id="rId12"/>
    </p:embeddedFont>
    <p:embeddedFont>
      <p:font typeface="Raleway Semi-Bold" charset="1" panose="00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2379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52131" y="2473146"/>
            <a:ext cx="6332103" cy="6047158"/>
          </a:xfrm>
          <a:custGeom>
            <a:avLst/>
            <a:gdLst/>
            <a:ahLst/>
            <a:cxnLst/>
            <a:rect r="r" b="b" t="t" l="l"/>
            <a:pathLst>
              <a:path h="6047158" w="6332103">
                <a:moveTo>
                  <a:pt x="0" y="0"/>
                </a:moveTo>
                <a:lnTo>
                  <a:pt x="6332103" y="0"/>
                </a:lnTo>
                <a:lnTo>
                  <a:pt x="6332103" y="6047158"/>
                </a:lnTo>
                <a:lnTo>
                  <a:pt x="0" y="6047158"/>
                </a:lnTo>
                <a:lnTo>
                  <a:pt x="0" y="0"/>
                </a:lnTo>
                <a:close/>
              </a:path>
            </a:pathLst>
          </a:custGeom>
          <a:blipFill>
            <a:blip r:embed="rId4"/>
            <a:stretch>
              <a:fillRect l="0" t="0" r="0" b="0"/>
            </a:stretch>
          </a:blipFill>
        </p:spPr>
      </p:sp>
      <p:sp>
        <p:nvSpPr>
          <p:cNvPr name="TextBox 4" id="4"/>
          <p:cNvSpPr txBox="true"/>
          <p:nvPr/>
        </p:nvSpPr>
        <p:spPr>
          <a:xfrm rot="0">
            <a:off x="1219200" y="1600336"/>
            <a:ext cx="8380612" cy="2875136"/>
          </a:xfrm>
          <a:prstGeom prst="rect">
            <a:avLst/>
          </a:prstGeom>
        </p:spPr>
        <p:txBody>
          <a:bodyPr anchor="t" rtlCol="false" tIns="0" lIns="0" bIns="0" rIns="0">
            <a:spAutoFit/>
          </a:bodyPr>
          <a:lstStyle/>
          <a:p>
            <a:pPr algn="l" marL="0" indent="0" lvl="0">
              <a:lnSpc>
                <a:spcPts val="7391"/>
              </a:lnSpc>
            </a:pPr>
            <a:r>
              <a:rPr lang="en-US" b="true" sz="8212" spc="-377">
                <a:solidFill>
                  <a:srgbClr val="00694C"/>
                </a:solidFill>
                <a:latin typeface="Raleway Medium"/>
                <a:ea typeface="Raleway Medium"/>
                <a:cs typeface="Raleway Medium"/>
                <a:sym typeface="Raleway Medium"/>
              </a:rPr>
              <a:t>Flight Cancellation and Maintenance 2015 DB</a:t>
            </a:r>
          </a:p>
        </p:txBody>
      </p:sp>
      <p:sp>
        <p:nvSpPr>
          <p:cNvPr name="TextBox 5" id="5"/>
          <p:cNvSpPr txBox="true"/>
          <p:nvPr/>
        </p:nvSpPr>
        <p:spPr>
          <a:xfrm rot="0">
            <a:off x="1219200" y="5605538"/>
            <a:ext cx="9179504" cy="1661413"/>
          </a:xfrm>
          <a:prstGeom prst="rect">
            <a:avLst/>
          </a:prstGeom>
        </p:spPr>
        <p:txBody>
          <a:bodyPr anchor="t" rtlCol="false" tIns="0" lIns="0" bIns="0" rIns="0">
            <a:spAutoFit/>
          </a:bodyPr>
          <a:lstStyle/>
          <a:p>
            <a:pPr algn="l" marL="0" indent="0" lvl="0">
              <a:lnSpc>
                <a:spcPts val="2570"/>
              </a:lnSpc>
            </a:pPr>
            <a:r>
              <a:rPr lang="en-US" b="true" sz="2856" spc="-131">
                <a:solidFill>
                  <a:srgbClr val="00694C"/>
                </a:solidFill>
                <a:latin typeface="Raleway Medium"/>
                <a:ea typeface="Raleway Medium"/>
                <a:cs typeface="Raleway Medium"/>
                <a:sym typeface="Raleway Medium"/>
              </a:rPr>
              <a:t>Juan Carlos Ferrer Jr, </a:t>
            </a:r>
          </a:p>
          <a:p>
            <a:pPr algn="l" marL="0" indent="0" lvl="0">
              <a:lnSpc>
                <a:spcPts val="2570"/>
              </a:lnSpc>
            </a:pPr>
          </a:p>
          <a:p>
            <a:pPr algn="l" marL="0" indent="0" lvl="0">
              <a:lnSpc>
                <a:spcPts val="2570"/>
              </a:lnSpc>
            </a:pPr>
            <a:r>
              <a:rPr lang="en-US" b="true" sz="2856" spc="-131">
                <a:solidFill>
                  <a:srgbClr val="00694C"/>
                </a:solidFill>
                <a:latin typeface="Raleway Medium"/>
                <a:ea typeface="Raleway Medium"/>
                <a:cs typeface="Raleway Medium"/>
                <a:sym typeface="Raleway Medium"/>
              </a:rPr>
              <a:t>Jean Charles, </a:t>
            </a:r>
          </a:p>
          <a:p>
            <a:pPr algn="l" marL="0" indent="0" lvl="0">
              <a:lnSpc>
                <a:spcPts val="2570"/>
              </a:lnSpc>
            </a:pPr>
          </a:p>
          <a:p>
            <a:pPr algn="l" marL="0" indent="0" lvl="0">
              <a:lnSpc>
                <a:spcPts val="2570"/>
              </a:lnSpc>
            </a:pPr>
            <a:r>
              <a:rPr lang="en-US" b="true" sz="2856" spc="-131">
                <a:solidFill>
                  <a:srgbClr val="00694C"/>
                </a:solidFill>
                <a:latin typeface="Raleway Medium"/>
                <a:ea typeface="Raleway Medium"/>
                <a:cs typeface="Raleway Medium"/>
                <a:sym typeface="Raleway Medium"/>
              </a:rPr>
              <a:t>Veronica Maiz Fernandez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TextBox 2" id="2"/>
          <p:cNvSpPr txBox="true"/>
          <p:nvPr/>
        </p:nvSpPr>
        <p:spPr>
          <a:xfrm rot="0">
            <a:off x="1219200" y="2075363"/>
            <a:ext cx="7924800" cy="3535074"/>
          </a:xfrm>
          <a:prstGeom prst="rect">
            <a:avLst/>
          </a:prstGeom>
        </p:spPr>
        <p:txBody>
          <a:bodyPr anchor="t" rtlCol="false" tIns="0" lIns="0" bIns="0" rIns="0">
            <a:spAutoFit/>
          </a:bodyPr>
          <a:lstStyle/>
          <a:p>
            <a:pPr algn="l" marL="0" indent="0" lvl="0">
              <a:lnSpc>
                <a:spcPts val="9030"/>
              </a:lnSpc>
            </a:pPr>
            <a:r>
              <a:rPr lang="en-US" b="true" sz="10034" spc="-461">
                <a:solidFill>
                  <a:srgbClr val="00694C"/>
                </a:solidFill>
                <a:latin typeface="Raleway Medium"/>
                <a:ea typeface="Raleway Medium"/>
                <a:cs typeface="Raleway Medium"/>
                <a:sym typeface="Raleway Medium"/>
              </a:rPr>
              <a:t>Project Overview and Objective</a:t>
            </a:r>
          </a:p>
        </p:txBody>
      </p:sp>
      <p:sp>
        <p:nvSpPr>
          <p:cNvPr name="TextBox 3" id="3"/>
          <p:cNvSpPr txBox="true"/>
          <p:nvPr/>
        </p:nvSpPr>
        <p:spPr>
          <a:xfrm rot="0">
            <a:off x="1219200" y="5762577"/>
            <a:ext cx="7635008" cy="2659077"/>
          </a:xfrm>
          <a:prstGeom prst="rect">
            <a:avLst/>
          </a:prstGeom>
        </p:spPr>
        <p:txBody>
          <a:bodyPr anchor="t" rtlCol="false" tIns="0" lIns="0" bIns="0" rIns="0">
            <a:spAutoFit/>
          </a:bodyPr>
          <a:lstStyle/>
          <a:p>
            <a:pPr algn="l" marL="0" indent="0" lvl="0">
              <a:lnSpc>
                <a:spcPts val="3061"/>
              </a:lnSpc>
              <a:spcBef>
                <a:spcPct val="0"/>
              </a:spcBef>
            </a:pPr>
            <a:r>
              <a:rPr lang="en-US" b="true" sz="2186">
                <a:solidFill>
                  <a:srgbClr val="00694C"/>
                </a:solidFill>
                <a:latin typeface="Raleway Semi-Bold"/>
                <a:ea typeface="Raleway Semi-Bold"/>
                <a:cs typeface="Raleway Semi-Bold"/>
                <a:sym typeface="Raleway Semi-Bold"/>
              </a:rPr>
              <a:t>This project analyzes aviation operational data via a custom relational database for December 2015. The main goal is to evaluate the relationship between scheduled flights, maintenance logs, and operational disruptions. Key objectives include identifying factors affecting airline reliability, analyzing cancellation causes and maintenance costs.</a:t>
            </a:r>
          </a:p>
        </p:txBody>
      </p:sp>
      <p:sp>
        <p:nvSpPr>
          <p:cNvPr name="Freeform 4" id="4"/>
          <p:cNvSpPr/>
          <p:nvPr/>
        </p:nvSpPr>
        <p:spPr>
          <a:xfrm flipH="false" flipV="false" rot="0">
            <a:off x="9120429" y="1939354"/>
            <a:ext cx="8921394" cy="6456859"/>
          </a:xfrm>
          <a:custGeom>
            <a:avLst/>
            <a:gdLst/>
            <a:ahLst/>
            <a:cxnLst/>
            <a:rect r="r" b="b" t="t" l="l"/>
            <a:pathLst>
              <a:path h="6456859" w="8921394">
                <a:moveTo>
                  <a:pt x="0" y="0"/>
                </a:moveTo>
                <a:lnTo>
                  <a:pt x="8921394" y="0"/>
                </a:lnTo>
                <a:lnTo>
                  <a:pt x="8921394" y="6456858"/>
                </a:lnTo>
                <a:lnTo>
                  <a:pt x="0" y="6456858"/>
                </a:lnTo>
                <a:lnTo>
                  <a:pt x="0" y="0"/>
                </a:lnTo>
                <a:close/>
              </a:path>
            </a:pathLst>
          </a:custGeom>
          <a:blipFill>
            <a:blip r:embed="rId2"/>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15665" y="1876559"/>
            <a:ext cx="13856669" cy="1249074"/>
          </a:xfrm>
          <a:prstGeom prst="rect">
            <a:avLst/>
          </a:prstGeom>
        </p:spPr>
        <p:txBody>
          <a:bodyPr anchor="t" rtlCol="false" tIns="0" lIns="0" bIns="0" rIns="0">
            <a:spAutoFit/>
          </a:bodyPr>
          <a:lstStyle/>
          <a:p>
            <a:pPr algn="ctr" marL="0" indent="0" lvl="0">
              <a:lnSpc>
                <a:spcPts val="9030"/>
              </a:lnSpc>
            </a:pPr>
            <a:r>
              <a:rPr lang="en-US" b="true" sz="10034" spc="-461">
                <a:solidFill>
                  <a:srgbClr val="00694C"/>
                </a:solidFill>
                <a:latin typeface="Raleway Medium"/>
                <a:ea typeface="Raleway Medium"/>
                <a:cs typeface="Raleway Medium"/>
                <a:sym typeface="Raleway Medium"/>
              </a:rPr>
              <a:t>Database Scope</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2465094"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01.</a:t>
            </a:r>
          </a:p>
        </p:txBody>
      </p:sp>
      <p:sp>
        <p:nvSpPr>
          <p:cNvPr name="TextBox 13" id="13"/>
          <p:cNvSpPr txBox="true"/>
          <p:nvPr/>
        </p:nvSpPr>
        <p:spPr>
          <a:xfrm rot="0">
            <a:off x="7933645"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02.</a:t>
            </a:r>
          </a:p>
        </p:txBody>
      </p:sp>
      <p:sp>
        <p:nvSpPr>
          <p:cNvPr name="TextBox 14" id="14"/>
          <p:cNvSpPr txBox="true"/>
          <p:nvPr/>
        </p:nvSpPr>
        <p:spPr>
          <a:xfrm rot="0">
            <a:off x="13402196"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03.</a:t>
            </a:r>
          </a:p>
        </p:txBody>
      </p:sp>
      <p:sp>
        <p:nvSpPr>
          <p:cNvPr name="TextBox 15" id="15"/>
          <p:cNvSpPr txBox="true"/>
          <p:nvPr/>
        </p:nvSpPr>
        <p:spPr>
          <a:xfrm rot="0">
            <a:off x="1627876" y="6142779"/>
            <a:ext cx="4095146" cy="188785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Sector: US Domestic Aviation. Analysis period: December 1–31, 2015. Comprehensive coverage of commercial flight operations across all major domestic carriers and routes.</a:t>
            </a:r>
          </a:p>
        </p:txBody>
      </p:sp>
      <p:sp>
        <p:nvSpPr>
          <p:cNvPr name="TextBox 16" id="16"/>
          <p:cNvSpPr txBox="true"/>
          <p:nvPr/>
        </p:nvSpPr>
        <p:spPr>
          <a:xfrm rot="0">
            <a:off x="7096427" y="6142779"/>
            <a:ext cx="4095146" cy="188785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Focus: Mechanical health vs. operational stressors. Examining aircraft maintenance records alongside flight performance data to identify reliability patterns and risk factors.</a:t>
            </a:r>
          </a:p>
        </p:txBody>
      </p:sp>
      <p:sp>
        <p:nvSpPr>
          <p:cNvPr name="TextBox 17" id="17"/>
          <p:cNvSpPr txBox="true"/>
          <p:nvPr/>
        </p:nvSpPr>
        <p:spPr>
          <a:xfrm rot="0">
            <a:off x="12564978" y="6142779"/>
            <a:ext cx="4095146" cy="1573530"/>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Cancellation types examined: Weather disruptions, Carrier-Specific issues, National Airspace System constraints. Emphasis on pinpointing bottlenecks by aircraft model.</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15665" y="1876559"/>
            <a:ext cx="13856669" cy="1249074"/>
          </a:xfrm>
          <a:prstGeom prst="rect">
            <a:avLst/>
          </a:prstGeom>
        </p:spPr>
        <p:txBody>
          <a:bodyPr anchor="t" rtlCol="false" tIns="0" lIns="0" bIns="0" rIns="0">
            <a:spAutoFit/>
          </a:bodyPr>
          <a:lstStyle/>
          <a:p>
            <a:pPr algn="ctr" marL="0" indent="0" lvl="0">
              <a:lnSpc>
                <a:spcPts val="9030"/>
              </a:lnSpc>
            </a:pPr>
            <a:r>
              <a:rPr lang="en-US" b="true" sz="10034" spc="-461">
                <a:solidFill>
                  <a:srgbClr val="00694C"/>
                </a:solidFill>
                <a:latin typeface="Raleway Medium"/>
                <a:ea typeface="Raleway Medium"/>
                <a:cs typeface="Raleway Medium"/>
                <a:sym typeface="Raleway Medium"/>
              </a:rPr>
              <a:t>Strategic Objectives</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2465094"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01.</a:t>
            </a:r>
          </a:p>
        </p:txBody>
      </p:sp>
      <p:sp>
        <p:nvSpPr>
          <p:cNvPr name="TextBox 13" id="13"/>
          <p:cNvSpPr txBox="true"/>
          <p:nvPr/>
        </p:nvSpPr>
        <p:spPr>
          <a:xfrm rot="0">
            <a:off x="7933645"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02.</a:t>
            </a:r>
          </a:p>
        </p:txBody>
      </p:sp>
      <p:sp>
        <p:nvSpPr>
          <p:cNvPr name="TextBox 14" id="14"/>
          <p:cNvSpPr txBox="true"/>
          <p:nvPr/>
        </p:nvSpPr>
        <p:spPr>
          <a:xfrm rot="0">
            <a:off x="13402196"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03.</a:t>
            </a:r>
          </a:p>
        </p:txBody>
      </p:sp>
      <p:sp>
        <p:nvSpPr>
          <p:cNvPr name="TextBox 15" id="15"/>
          <p:cNvSpPr txBox="true"/>
          <p:nvPr/>
        </p:nvSpPr>
        <p:spPr>
          <a:xfrm rot="0">
            <a:off x="1627876" y="6142779"/>
            <a:ext cx="4095146" cy="188785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Analyze Correlation: Establish direct links between maintenance logs and flight cancellations to identify mechanical factors driving operational disruptions across the fleet.</a:t>
            </a:r>
          </a:p>
        </p:txBody>
      </p:sp>
      <p:sp>
        <p:nvSpPr>
          <p:cNvPr name="TextBox 16" id="16"/>
          <p:cNvSpPr txBox="true"/>
          <p:nvPr/>
        </p:nvSpPr>
        <p:spPr>
          <a:xfrm rot="0">
            <a:off x="7096427" y="6142779"/>
            <a:ext cx="4095146" cy="188785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Performance Evaluation: Benchmark airline efficiency metrics under peak holiday season stress to assess carrier reliability and operational resilience during high-demand periods.</a:t>
            </a:r>
          </a:p>
        </p:txBody>
      </p:sp>
      <p:sp>
        <p:nvSpPr>
          <p:cNvPr name="TextBox 17" id="17"/>
          <p:cNvSpPr txBox="true"/>
          <p:nvPr/>
        </p:nvSpPr>
        <p:spPr>
          <a:xfrm rot="0">
            <a:off x="12564978" y="6142779"/>
            <a:ext cx="4095146" cy="1573530"/>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694C"/>
                </a:solidFill>
                <a:latin typeface="Raleway Semi-Bold"/>
                <a:ea typeface="Raleway Semi-Bold"/>
                <a:cs typeface="Raleway Semi-Bold"/>
                <a:sym typeface="Raleway Semi-Bold"/>
              </a:rPr>
              <a:t>Data-Driven Strategy: Recommend optimal airline models based on price-reliability analysis and identify systemic bottlenecks in fleet management operations.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Freeform 2" id="2"/>
          <p:cNvSpPr/>
          <p:nvPr/>
        </p:nvSpPr>
        <p:spPr>
          <a:xfrm flipH="false" flipV="false" rot="0">
            <a:off x="10675390" y="1604532"/>
            <a:ext cx="6503356" cy="6123920"/>
          </a:xfrm>
          <a:custGeom>
            <a:avLst/>
            <a:gdLst/>
            <a:ahLst/>
            <a:cxnLst/>
            <a:rect r="r" b="b" t="t" l="l"/>
            <a:pathLst>
              <a:path h="6123920" w="6503356">
                <a:moveTo>
                  <a:pt x="0" y="0"/>
                </a:moveTo>
                <a:lnTo>
                  <a:pt x="6503356" y="0"/>
                </a:lnTo>
                <a:lnTo>
                  <a:pt x="6503356" y="6123921"/>
                </a:lnTo>
                <a:lnTo>
                  <a:pt x="0" y="6123921"/>
                </a:lnTo>
                <a:lnTo>
                  <a:pt x="0" y="0"/>
                </a:lnTo>
                <a:close/>
              </a:path>
            </a:pathLst>
          </a:custGeom>
          <a:blipFill>
            <a:blip r:embed="rId2"/>
            <a:stretch>
              <a:fillRect l="0" t="0" r="0" b="0"/>
            </a:stretch>
          </a:blipFill>
          <a:ln cap="sq">
            <a:noFill/>
            <a:prstDash val="solid"/>
            <a:miter/>
          </a:ln>
        </p:spPr>
      </p:sp>
      <p:sp>
        <p:nvSpPr>
          <p:cNvPr name="TextBox 3" id="3"/>
          <p:cNvSpPr txBox="true"/>
          <p:nvPr/>
        </p:nvSpPr>
        <p:spPr>
          <a:xfrm rot="0">
            <a:off x="1219200" y="2523856"/>
            <a:ext cx="7223569" cy="2120266"/>
          </a:xfrm>
          <a:prstGeom prst="rect">
            <a:avLst/>
          </a:prstGeom>
        </p:spPr>
        <p:txBody>
          <a:bodyPr anchor="t" rtlCol="false" tIns="0" lIns="0" bIns="0" rIns="0">
            <a:spAutoFit/>
          </a:bodyPr>
          <a:lstStyle/>
          <a:p>
            <a:pPr algn="l" marL="0" indent="0" lvl="0">
              <a:lnSpc>
                <a:spcPts val="8010"/>
              </a:lnSpc>
            </a:pPr>
            <a:r>
              <a:rPr lang="en-US" b="true" sz="8900" spc="-409">
                <a:solidFill>
                  <a:srgbClr val="00694C"/>
                </a:solidFill>
                <a:latin typeface="Raleway Medium"/>
                <a:ea typeface="Raleway Medium"/>
                <a:cs typeface="Raleway Medium"/>
                <a:sym typeface="Raleway Medium"/>
              </a:rPr>
              <a:t>Tools &amp; Technologies</a:t>
            </a:r>
          </a:p>
        </p:txBody>
      </p:sp>
      <p:sp>
        <p:nvSpPr>
          <p:cNvPr name="TextBox 4" id="4"/>
          <p:cNvSpPr txBox="true"/>
          <p:nvPr/>
        </p:nvSpPr>
        <p:spPr>
          <a:xfrm rot="0">
            <a:off x="3257902" y="5493901"/>
            <a:ext cx="6140551" cy="1102359"/>
          </a:xfrm>
          <a:prstGeom prst="rect">
            <a:avLst/>
          </a:prstGeom>
        </p:spPr>
        <p:txBody>
          <a:bodyPr anchor="t" rtlCol="false" tIns="0" lIns="0" bIns="0" rIns="0">
            <a:spAutoFit/>
          </a:bodyPr>
          <a:lstStyle/>
          <a:p>
            <a:pPr algn="l" marL="0" indent="0" lvl="0">
              <a:lnSpc>
                <a:spcPts val="2240"/>
              </a:lnSpc>
              <a:spcBef>
                <a:spcPct val="0"/>
              </a:spcBef>
            </a:pPr>
            <a:r>
              <a:rPr lang="en-US" b="true" sz="1600">
                <a:solidFill>
                  <a:srgbClr val="00694C"/>
                </a:solidFill>
                <a:latin typeface="Raleway Semi-Bold"/>
                <a:ea typeface="Raleway Semi-Bold"/>
                <a:cs typeface="Raleway Semi-Bold"/>
                <a:sym typeface="Raleway Semi-Bold"/>
              </a:rPr>
              <a:t>Azure SQL Database for secure, scalable data storage and management.</a:t>
            </a:r>
          </a:p>
          <a:p>
            <a:pPr algn="l" marL="0" indent="0" lvl="0">
              <a:lnSpc>
                <a:spcPts val="2240"/>
              </a:lnSpc>
              <a:spcBef>
                <a:spcPct val="0"/>
              </a:spcBef>
            </a:pPr>
            <a:r>
              <a:rPr lang="en-US" b="true" sz="1600">
                <a:solidFill>
                  <a:srgbClr val="00694C"/>
                </a:solidFill>
                <a:latin typeface="Raleway Semi-Bold"/>
                <a:ea typeface="Raleway Semi-Bold"/>
                <a:cs typeface="Raleway Semi-Bold"/>
                <a:sym typeface="Raleway Semi-Bold"/>
              </a:rPr>
              <a:t>T-SQL (SQL Server) for advanced querying, joins, and analytical operations across flight and maintenance records.</a:t>
            </a:r>
          </a:p>
        </p:txBody>
      </p:sp>
      <p:sp>
        <p:nvSpPr>
          <p:cNvPr name="TextBox 5" id="5"/>
          <p:cNvSpPr txBox="true"/>
          <p:nvPr/>
        </p:nvSpPr>
        <p:spPr>
          <a:xfrm rot="0">
            <a:off x="1219200" y="5577572"/>
            <a:ext cx="1676876" cy="1249343"/>
          </a:xfrm>
          <a:prstGeom prst="rect">
            <a:avLst/>
          </a:prstGeom>
        </p:spPr>
        <p:txBody>
          <a:bodyPr anchor="t" rtlCol="false" tIns="0" lIns="0" bIns="0" rIns="0">
            <a:spAutoFit/>
          </a:bodyPr>
          <a:lstStyle/>
          <a:p>
            <a:pPr algn="l" marL="0" indent="0" lvl="0">
              <a:lnSpc>
                <a:spcPts val="9037"/>
              </a:lnSpc>
            </a:pPr>
          </a:p>
        </p:txBody>
      </p:sp>
      <p:sp>
        <p:nvSpPr>
          <p:cNvPr name="TextBox 6" id="6"/>
          <p:cNvSpPr txBox="true"/>
          <p:nvPr/>
        </p:nvSpPr>
        <p:spPr>
          <a:xfrm rot="0">
            <a:off x="3257902" y="7173081"/>
            <a:ext cx="6140551" cy="1102359"/>
          </a:xfrm>
          <a:prstGeom prst="rect">
            <a:avLst/>
          </a:prstGeom>
        </p:spPr>
        <p:txBody>
          <a:bodyPr anchor="t" rtlCol="false" tIns="0" lIns="0" bIns="0" rIns="0">
            <a:spAutoFit/>
          </a:bodyPr>
          <a:lstStyle/>
          <a:p>
            <a:pPr algn="l" marL="0" indent="0" lvl="0">
              <a:lnSpc>
                <a:spcPts val="2240"/>
              </a:lnSpc>
              <a:spcBef>
                <a:spcPct val="0"/>
              </a:spcBef>
            </a:pPr>
            <a:r>
              <a:rPr lang="en-US" b="true" sz="1600">
                <a:solidFill>
                  <a:srgbClr val="00694C"/>
                </a:solidFill>
                <a:latin typeface="Raleway Semi-Bold"/>
                <a:ea typeface="Raleway Semi-Bold"/>
                <a:cs typeface="Raleway Semi-Bold"/>
                <a:sym typeface="Raleway Semi-Bold"/>
              </a:rPr>
              <a:t>Visual Studio Code for efficient code development and script management.</a:t>
            </a:r>
          </a:p>
          <a:p>
            <a:pPr algn="l" marL="0" indent="0" lvl="0">
              <a:lnSpc>
                <a:spcPts val="2240"/>
              </a:lnSpc>
              <a:spcBef>
                <a:spcPct val="0"/>
              </a:spcBef>
            </a:pPr>
            <a:r>
              <a:rPr lang="en-US" b="true" sz="1600">
                <a:solidFill>
                  <a:srgbClr val="00694C"/>
                </a:solidFill>
                <a:latin typeface="Raleway Semi-Bold"/>
                <a:ea typeface="Raleway Semi-Bold"/>
                <a:cs typeface="Raleway Semi-Bold"/>
                <a:sym typeface="Raleway Semi-Bold"/>
              </a:rPr>
              <a:t>DBCode for creating data visualizations and insights. GitHub repository hosting all code and database backup (.bacpac).</a:t>
            </a:r>
          </a:p>
        </p:txBody>
      </p:sp>
      <p:sp>
        <p:nvSpPr>
          <p:cNvPr name="TextBox 7" id="7"/>
          <p:cNvSpPr txBox="true"/>
          <p:nvPr/>
        </p:nvSpPr>
        <p:spPr>
          <a:xfrm rot="0">
            <a:off x="1219200" y="7256752"/>
            <a:ext cx="1676876" cy="1249343"/>
          </a:xfrm>
          <a:prstGeom prst="rect">
            <a:avLst/>
          </a:prstGeom>
        </p:spPr>
        <p:txBody>
          <a:bodyPr anchor="t" rtlCol="false" tIns="0" lIns="0" bIns="0" rIns="0">
            <a:spAutoFit/>
          </a:bodyPr>
          <a:lstStyle/>
          <a:p>
            <a:pPr algn="l" marL="0" indent="0" lvl="0">
              <a:lnSpc>
                <a:spcPts val="9037"/>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15665" y="1876559"/>
            <a:ext cx="13856669" cy="1249074"/>
          </a:xfrm>
          <a:prstGeom prst="rect">
            <a:avLst/>
          </a:prstGeom>
        </p:spPr>
        <p:txBody>
          <a:bodyPr anchor="t" rtlCol="false" tIns="0" lIns="0" bIns="0" rIns="0">
            <a:spAutoFit/>
          </a:bodyPr>
          <a:lstStyle/>
          <a:p>
            <a:pPr algn="ctr" marL="0" indent="0" lvl="0">
              <a:lnSpc>
                <a:spcPts val="9030"/>
              </a:lnSpc>
            </a:pPr>
            <a:r>
              <a:rPr lang="en-US" b="true" sz="10034" spc="-461">
                <a:solidFill>
                  <a:srgbClr val="00694C"/>
                </a:solidFill>
                <a:latin typeface="Raleway Medium"/>
                <a:ea typeface="Raleway Medium"/>
                <a:cs typeface="Raleway Medium"/>
                <a:sym typeface="Raleway Medium"/>
              </a:rPr>
              <a:t>Analytical Capabilities</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2465094"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01.</a:t>
            </a:r>
          </a:p>
        </p:txBody>
      </p:sp>
      <p:sp>
        <p:nvSpPr>
          <p:cNvPr name="TextBox 13" id="13"/>
          <p:cNvSpPr txBox="true"/>
          <p:nvPr/>
        </p:nvSpPr>
        <p:spPr>
          <a:xfrm rot="0">
            <a:off x="7933645"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02.</a:t>
            </a:r>
          </a:p>
        </p:txBody>
      </p:sp>
      <p:sp>
        <p:nvSpPr>
          <p:cNvPr name="TextBox 14" id="14"/>
          <p:cNvSpPr txBox="true"/>
          <p:nvPr/>
        </p:nvSpPr>
        <p:spPr>
          <a:xfrm rot="0">
            <a:off x="13402196" y="4490352"/>
            <a:ext cx="2420710" cy="1476055"/>
          </a:xfrm>
          <a:prstGeom prst="rect">
            <a:avLst/>
          </a:prstGeom>
        </p:spPr>
        <p:txBody>
          <a:bodyPr anchor="t" rtlCol="false" tIns="0" lIns="0" bIns="0" rIns="0">
            <a:spAutoFit/>
          </a:bodyPr>
          <a:lstStyle/>
          <a:p>
            <a:pPr algn="ctr" marL="0" indent="0" lvl="0">
              <a:lnSpc>
                <a:spcPts val="10792"/>
              </a:lnSpc>
            </a:pPr>
            <a:r>
              <a:rPr lang="en-US" b="true" sz="11991" spc="-551">
                <a:solidFill>
                  <a:srgbClr val="00694C"/>
                </a:solidFill>
                <a:latin typeface="Raleway Medium"/>
                <a:ea typeface="Raleway Medium"/>
                <a:cs typeface="Raleway Medium"/>
                <a:sym typeface="Raleway Medium"/>
              </a:rPr>
              <a:t>03.</a:t>
            </a:r>
          </a:p>
        </p:txBody>
      </p:sp>
      <p:sp>
        <p:nvSpPr>
          <p:cNvPr name="TextBox 15" id="15"/>
          <p:cNvSpPr txBox="true"/>
          <p:nvPr/>
        </p:nvSpPr>
        <p:spPr>
          <a:xfrm rot="0">
            <a:off x="1627876" y="6152304"/>
            <a:ext cx="4095146" cy="2126969"/>
          </a:xfrm>
          <a:prstGeom prst="rect">
            <a:avLst/>
          </a:prstGeom>
        </p:spPr>
        <p:txBody>
          <a:bodyPr anchor="t" rtlCol="false" tIns="0" lIns="0" bIns="0" rIns="0">
            <a:spAutoFit/>
          </a:bodyPr>
          <a:lstStyle/>
          <a:p>
            <a:pPr algn="just" marL="0" indent="0" lvl="0">
              <a:lnSpc>
                <a:spcPts val="2465"/>
              </a:lnSpc>
              <a:spcBef>
                <a:spcPct val="0"/>
              </a:spcBef>
            </a:pPr>
            <a:r>
              <a:rPr lang="en-US" b="true" sz="1761">
                <a:solidFill>
                  <a:srgbClr val="00694C"/>
                </a:solidFill>
                <a:latin typeface="Raleway Semi-Bold"/>
                <a:ea typeface="Raleway Semi-Bold"/>
                <a:cs typeface="Raleway Semi-Bold"/>
                <a:sym typeface="Raleway Semi-Bold"/>
              </a:rPr>
              <a:t>Carrier Reliability Ranking: Assess each airline's effectiveness in handling operational stress during peak travel periods. Maintenance Impact: Convert mechanical maintenance logs into actionable reliability metrics for fleet assessment.</a:t>
            </a:r>
          </a:p>
        </p:txBody>
      </p:sp>
      <p:sp>
        <p:nvSpPr>
          <p:cNvPr name="TextBox 16" id="16"/>
          <p:cNvSpPr txBox="true"/>
          <p:nvPr/>
        </p:nvSpPr>
        <p:spPr>
          <a:xfrm rot="0">
            <a:off x="7096427" y="6152304"/>
            <a:ext cx="4095146" cy="1822169"/>
          </a:xfrm>
          <a:prstGeom prst="rect">
            <a:avLst/>
          </a:prstGeom>
        </p:spPr>
        <p:txBody>
          <a:bodyPr anchor="t" rtlCol="false" tIns="0" lIns="0" bIns="0" rIns="0">
            <a:spAutoFit/>
          </a:bodyPr>
          <a:lstStyle/>
          <a:p>
            <a:pPr algn="just" marL="0" indent="0" lvl="0">
              <a:lnSpc>
                <a:spcPts val="2465"/>
              </a:lnSpc>
              <a:spcBef>
                <a:spcPct val="0"/>
              </a:spcBef>
            </a:pPr>
            <a:r>
              <a:rPr lang="en-US" b="true" sz="1761">
                <a:solidFill>
                  <a:srgbClr val="00694C"/>
                </a:solidFill>
                <a:latin typeface="Raleway Semi-Bold"/>
                <a:ea typeface="Raleway Semi-Bold"/>
                <a:cs typeface="Raleway Semi-Bold"/>
                <a:sym typeface="Raleway Semi-Bold"/>
              </a:rPr>
              <a:t>Cancellation Distribution: Perform frequency analysis across disruption categories including weather delays, carrier-specific issues, and National Airspace System constraints to identify primary failure points.</a:t>
            </a:r>
          </a:p>
        </p:txBody>
      </p:sp>
      <p:sp>
        <p:nvSpPr>
          <p:cNvPr name="TextBox 17" id="17"/>
          <p:cNvSpPr txBox="true"/>
          <p:nvPr/>
        </p:nvSpPr>
        <p:spPr>
          <a:xfrm rot="0">
            <a:off x="12564978" y="6152304"/>
            <a:ext cx="4095146" cy="1822169"/>
          </a:xfrm>
          <a:prstGeom prst="rect">
            <a:avLst/>
          </a:prstGeom>
        </p:spPr>
        <p:txBody>
          <a:bodyPr anchor="t" rtlCol="false" tIns="0" lIns="0" bIns="0" rIns="0">
            <a:spAutoFit/>
          </a:bodyPr>
          <a:lstStyle/>
          <a:p>
            <a:pPr algn="just" marL="0" indent="0" lvl="0">
              <a:lnSpc>
                <a:spcPts val="2465"/>
              </a:lnSpc>
              <a:spcBef>
                <a:spcPct val="0"/>
              </a:spcBef>
            </a:pPr>
            <a:r>
              <a:rPr lang="en-US" b="true" sz="1761">
                <a:solidFill>
                  <a:srgbClr val="00694C"/>
                </a:solidFill>
                <a:latin typeface="Raleway Semi-Bold"/>
                <a:ea typeface="Raleway Semi-Bold"/>
                <a:cs typeface="Raleway Semi-Bold"/>
                <a:sym typeface="Raleway Semi-Bold"/>
              </a:rPr>
              <a:t>Time Series Analysis: Track cancellation trends across December 2015 holiday peak dates to reveal temporal patterns and anticipate high-risk operational windows for proactive planning.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DAHHpWMFq64</dc:identifier>
  <dcterms:modified xsi:type="dcterms:W3CDTF">2011-08-01T06:04:30Z</dcterms:modified>
  <cp:revision>1</cp:revision>
  <dc:title>Flight Cancellation &amp; Maintenance 2015 DB</dc:title>
</cp:coreProperties>
</file>